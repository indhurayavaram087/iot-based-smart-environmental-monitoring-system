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66" r:id="rId5"/>
    <p:sldId id="259" r:id="rId6"/>
    <p:sldId id="283" r:id="rId7"/>
    <p:sldId id="284" r:id="rId8"/>
    <p:sldId id="258" r:id="rId9"/>
    <p:sldId id="279" r:id="rId11"/>
    <p:sldId id="263" r:id="rId12"/>
    <p:sldId id="280" r:id="rId13"/>
    <p:sldId id="285" r:id="rId14"/>
    <p:sldId id="281" r:id="rId15"/>
    <p:sldId id="274" r:id="rId16"/>
    <p:sldId id="275" r:id="rId17"/>
    <p:sldId id="282" r:id="rId18"/>
    <p:sldId id="270" r:id="rId19"/>
  </p:sldIdLst>
  <p:sldSz cx="12192000" cy="6858000"/>
  <p:notesSz cx="6858000" cy="9144000"/>
  <p:embeddedFontLst>
    <p:embeddedFont>
      <p:font typeface="Calibri Light" panose="020F0302020204030204" charset="0"/>
      <p:regular r:id="rId23"/>
      <p:italic r:id="rId24"/>
    </p:embeddedFont>
    <p:embeddedFont>
      <p:font typeface="Calibri" panose="020F0502020204030204" charset="0"/>
      <p:regular r:id="rId25"/>
      <p:bold r:id="rId26"/>
      <p:italic r:id="rId27"/>
      <p:boldItalic r:id="rId28"/>
    </p:embeddedFont>
  </p:embeddedFontLst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 varScale="1">
        <p:scale>
          <a:sx n="94" d="100"/>
          <a:sy n="94" d="100"/>
        </p:scale>
        <p:origin x="8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2.xml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F6D0C-E847-4C0A-B536-0E32B42269BB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5790B-21EE-4C0A-B75A-9DD3C75CEC6F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C223-8C06-4754-B53E-1C9A008C653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5D94B-F67A-4573-B189-7B7564AE48F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C223-8C06-4754-B53E-1C9A008C653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5D94B-F67A-4573-B189-7B7564AE48F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C223-8C06-4754-B53E-1C9A008C653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5D94B-F67A-4573-B189-7B7564AE48F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C223-8C06-4754-B53E-1C9A008C653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5D94B-F67A-4573-B189-7B7564AE48F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C223-8C06-4754-B53E-1C9A008C6539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5D94B-F67A-4573-B189-7B7564AE48F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C223-8C06-4754-B53E-1C9A008C6539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5D94B-F67A-4573-B189-7B7564AE48F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C223-8C06-4754-B53E-1C9A008C6539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5D94B-F67A-4573-B189-7B7564AE48F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C223-8C06-4754-B53E-1C9A008C653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5D94B-F67A-4573-B189-7B7564AE48F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C223-8C06-4754-B53E-1C9A008C653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5D94B-F67A-4573-B189-7B7564AE48F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C223-8C06-4754-B53E-1C9A008C653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5D94B-F67A-4573-B189-7B7564AE48F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C223-8C06-4754-B53E-1C9A008C653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5D94B-F67A-4573-B189-7B7564AE48F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1C223-8C06-4754-B53E-1C9A008C653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5D94B-F67A-4573-B189-7B7564AE48F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91C223-8C06-4754-B53E-1C9A008C653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5D94B-F67A-4573-B189-7B7564AE48FC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64" y="113740"/>
            <a:ext cx="11887200" cy="1217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543685" y="2028190"/>
            <a:ext cx="94411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Based Smart Environmental Monitoring System</a:t>
            </a:r>
            <a:endParaRPr lang="en-US" alt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19139" y="4310367"/>
            <a:ext cx="749490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CSA5158 Python programming for Scientific computing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49281" y="5024532"/>
            <a:ext cx="5893435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Faculty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Dr.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Vijayaraghavan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Dr. S K Aruna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Professor, SIMATS Engineering, SIMATS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60479" y="2920257"/>
            <a:ext cx="4411345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the Student and reg no: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Niharika (192411124)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R.Indhu(192524332)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757"/>
          <a:stretch>
            <a:fillRect/>
          </a:stretch>
        </p:blipFill>
        <p:spPr bwMode="auto">
          <a:xfrm>
            <a:off x="122465" y="113741"/>
            <a:ext cx="2359478" cy="6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47"/>
          <a:stretch>
            <a:fillRect/>
          </a:stretch>
        </p:blipFill>
        <p:spPr bwMode="auto">
          <a:xfrm>
            <a:off x="9710057" y="113741"/>
            <a:ext cx="2359478" cy="6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075940" y="679450"/>
            <a:ext cx="53397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2555" y="1664970"/>
            <a:ext cx="7934960" cy="4661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monitoring is essential for public safety, agriculture, and pollution control.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monitoring methods are manual and do not provide real-time information.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technology enables automatic collection and transmission of environmental data.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ESP8266 NodeMCU with temperature, humidity, soil moisture, rain, and gas sensors.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data is displayed on an LCD and monitored remotely through Wi-Fi.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Telegram alerts are generated when environmental parameters exceed predefined limits.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creenshot 2026-06-25 0913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00" y="2240915"/>
            <a:ext cx="3716020" cy="29070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757"/>
          <a:stretch>
            <a:fillRect/>
          </a:stretch>
        </p:blipFill>
        <p:spPr bwMode="auto">
          <a:xfrm>
            <a:off x="122465" y="113741"/>
            <a:ext cx="2359478" cy="6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47"/>
          <a:stretch>
            <a:fillRect/>
          </a:stretch>
        </p:blipFill>
        <p:spPr bwMode="auto">
          <a:xfrm>
            <a:off x="9710057" y="113741"/>
            <a:ext cx="2359478" cy="6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202690" y="987425"/>
            <a:ext cx="92322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791210" y="1991995"/>
            <a:ext cx="10292080" cy="3693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GB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conditions such as temperature, humidity, gas levels, rainfall, and soil moisture can change rapidly and affect safety and productivity.</a:t>
            </a:r>
            <a:endParaRPr kumimoji="0" lang="en-US" altLang="en-GB" sz="20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GB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monitoring methods rely on manual observation and lack real-time tracking.</a:t>
            </a:r>
            <a:endParaRPr kumimoji="0" lang="en-US" altLang="en-GB" sz="20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GB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Delayed detection of hazardous conditions may lead to environmental damage and safety risks.</a:t>
            </a:r>
            <a:endParaRPr kumimoji="0" lang="en-US" altLang="en-GB" sz="20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GB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system that can continuously monitor environmental parameters and provide instant alerts.</a:t>
            </a:r>
            <a:endParaRPr kumimoji="0" lang="en-US" altLang="en-GB" sz="20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GB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IoT-based solution can enable real-time monitoring, remote access, and timely decision-making.</a:t>
            </a:r>
            <a:endParaRPr kumimoji="0" lang="en-US" altLang="en-GB" sz="20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757"/>
          <a:stretch>
            <a:fillRect/>
          </a:stretch>
        </p:blipFill>
        <p:spPr bwMode="auto">
          <a:xfrm>
            <a:off x="122465" y="113741"/>
            <a:ext cx="2359478" cy="6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47"/>
          <a:stretch>
            <a:fillRect/>
          </a:stretch>
        </p:blipFill>
        <p:spPr bwMode="auto">
          <a:xfrm>
            <a:off x="9710057" y="113741"/>
            <a:ext cx="2359478" cy="6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46710" y="1217930"/>
            <a:ext cx="113157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04850" y="2169795"/>
            <a:ext cx="10598785" cy="3121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monitor environmental parameters such as temperature, humidity, soil moisture, rainfall, and gas levels in real time.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and process sensor data using the ESP8266 NodeMCU.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remote monitoring through Wi-Fi and a web dashboard.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instant Telegram alerts when abnormal conditions are detected.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environmental safety through continuous monitoring.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low-cost and efficient IoT-based monitoring system.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IN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altLang="en-GB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1"/>
            </p:custDataLst>
          </p:nvPr>
        </p:nvGraphicFramePr>
        <p:xfrm>
          <a:off x="673735" y="1536065"/>
          <a:ext cx="1084453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340"/>
                <a:gridCol w="1989455"/>
                <a:gridCol w="1571625"/>
                <a:gridCol w="3089910"/>
                <a:gridCol w="3124200"/>
              </a:tblGrid>
              <a:tr h="4572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alt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alt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  <a:tr h="73152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alt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alt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Popsecu et al.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and IoT Driven Technologies for Environmental Pollution Monitoring</a:t>
                      </a:r>
                      <a:endParaRPr lang="en-US" alt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AI and IoT for smart pollution monitoring.</a:t>
                      </a:r>
                      <a:endParaRPr lang="en-US" alt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  <a:tr h="73152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alt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alt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Adeagbo</a:t>
                      </a:r>
                      <a:endParaRPr lang="en-US" alt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Based Environment Monitoring System Using ESP32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monitoring using ESP32 and cloud platform.</a:t>
                      </a:r>
                      <a:endParaRPr lang="en-US" alt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  <a:tr h="109728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alt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alt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Mamalis &amp; Gerakidis</a:t>
                      </a:r>
                      <a:endParaRPr lang="en-US" alt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Environmental Monitoring Framework using WSN and Edge Computing</a:t>
                      </a:r>
                      <a:endParaRPr lang="en-US" alt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scalability and data processing efficiency.</a:t>
                      </a:r>
                      <a:endParaRPr lang="en-US" alt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  <a:tr h="109728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alt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alt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Low-Cost IoT Air Quality Monitoring Research</a:t>
                      </a:r>
                      <a:endParaRPr lang="en-US" alt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Air Quality Monitoring with Cloud Platform</a:t>
                      </a:r>
                      <a:endParaRPr lang="en-US" alt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air quality monitoring using cloud services.</a:t>
                      </a:r>
                      <a:endParaRPr lang="en-US" alt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  <a:tr h="73152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alt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alt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Rao et al.</a:t>
                      </a:r>
                      <a:endParaRPr lang="en-US" alt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IoT-Enabled Environmental Monitoring Systems</a:t>
                      </a:r>
                      <a:endParaRPr lang="en-US" alt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Discussed future trends, challenges, and AI integration.</a:t>
                      </a:r>
                      <a:endParaRPr lang="en-US" alt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pic>
        <p:nvPicPr>
          <p:cNvPr id="2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757"/>
          <a:stretch>
            <a:fillRect/>
          </a:stretch>
        </p:blipFill>
        <p:spPr bwMode="auto">
          <a:xfrm>
            <a:off x="122465" y="113741"/>
            <a:ext cx="2359478" cy="6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47"/>
          <a:stretch>
            <a:fillRect/>
          </a:stretch>
        </p:blipFill>
        <p:spPr bwMode="auto">
          <a:xfrm>
            <a:off x="9710057" y="113741"/>
            <a:ext cx="2359478" cy="6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IN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altLang="en-GB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 descr="Screenshot 2026-06-25 091959"/>
          <p:cNvPicPr>
            <a:picLocks noChangeAspect="1"/>
          </p:cNvPicPr>
          <p:nvPr>
            <p:ph idx="1"/>
          </p:nvPr>
        </p:nvPicPr>
        <p:blipFill>
          <a:blip r:embed="rId1"/>
          <a:srcRect l="802"/>
          <a:stretch>
            <a:fillRect/>
          </a:stretch>
        </p:blipFill>
        <p:spPr>
          <a:xfrm>
            <a:off x="972820" y="1844675"/>
            <a:ext cx="10159365" cy="4312920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757"/>
          <a:stretch>
            <a:fillRect/>
          </a:stretch>
        </p:blipFill>
        <p:spPr bwMode="auto">
          <a:xfrm>
            <a:off x="122465" y="113741"/>
            <a:ext cx="2359478" cy="6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47"/>
          <a:stretch>
            <a:fillRect/>
          </a:stretch>
        </p:blipFill>
        <p:spPr bwMode="auto">
          <a:xfrm>
            <a:off x="9710057" y="113741"/>
            <a:ext cx="2359478" cy="6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757"/>
          <a:stretch>
            <a:fillRect/>
          </a:stretch>
        </p:blipFill>
        <p:spPr bwMode="auto">
          <a:xfrm>
            <a:off x="122465" y="113741"/>
            <a:ext cx="2359478" cy="6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47"/>
          <a:stretch>
            <a:fillRect/>
          </a:stretch>
        </p:blipFill>
        <p:spPr bwMode="auto">
          <a:xfrm>
            <a:off x="9710057" y="113741"/>
            <a:ext cx="2359478" cy="6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-106680" y="805815"/>
            <a:ext cx="1240536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</a:t>
            </a:r>
            <a:r>
              <a:rPr lang="en-I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ACQUISITION MODULE </a:t>
            </a:r>
            <a:endParaRPr lang="en-I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4335" y="1538605"/>
            <a:ext cx="11674475" cy="5175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>
              <a:buNone/>
            </a:pPr>
            <a:r>
              <a:rPr lang="en-US" alt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lang="en-I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collects environmental data from various sensors and sends it to the ESP8266 for processing.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en-I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GB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ESP8266 NodeMCU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Moisture Sensor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 Sensor Module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DHT11 Sensor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MQ2 Gas Sensor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lang="en-I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GB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soil moisture level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rainfall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temperature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humidity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gas leakage and smoke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6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1115" y="249555"/>
            <a:ext cx="9879330" cy="1065530"/>
          </a:xfrm>
        </p:spPr>
        <p:txBody>
          <a:bodyPr/>
          <a:p>
            <a:pPr algn="ctr"/>
            <a:r>
              <a:rPr lang="en-IN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</a:t>
            </a:r>
            <a:endParaRPr lang="en-IN" altLang="en-GB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635" y="1315085"/>
            <a:ext cx="11355070" cy="4853305"/>
          </a:xfrm>
        </p:spPr>
        <p:txBody>
          <a:bodyPr>
            <a:noAutofit/>
          </a:bodyPr>
          <a:p>
            <a:pPr marL="0" indent="0" algn="just">
              <a:buNone/>
            </a:pPr>
            <a:r>
              <a:rPr lang="en-US" altLang="en-GB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</a:t>
            </a:r>
            <a:r>
              <a:rPr lang="en-IN" altLang="en-US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GB" sz="23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2300">
                <a:latin typeface="Times New Roman" panose="02020603050405020304" pitchFamily="18" charset="0"/>
                <a:cs typeface="Times New Roman" panose="02020603050405020304" pitchFamily="18" charset="0"/>
              </a:rPr>
              <a:t>Sensors continuously collect environmental data.</a:t>
            </a:r>
            <a:endParaRPr lang="en-US" altLang="en-GB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2300">
                <a:latin typeface="Times New Roman" panose="02020603050405020304" pitchFamily="18" charset="0"/>
                <a:cs typeface="Times New Roman" panose="02020603050405020304" pitchFamily="18" charset="0"/>
              </a:rPr>
              <a:t>Soil Moisture Sensor measures soil water content.</a:t>
            </a:r>
            <a:endParaRPr lang="en-US" altLang="en-GB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2300">
                <a:latin typeface="Times New Roman" panose="02020603050405020304" pitchFamily="18" charset="0"/>
                <a:cs typeface="Times New Roman" panose="02020603050405020304" pitchFamily="18" charset="0"/>
              </a:rPr>
              <a:t>Rain Sensor detects rainfall conditions.</a:t>
            </a:r>
            <a:endParaRPr lang="en-US" altLang="en-GB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2300">
                <a:latin typeface="Times New Roman" panose="02020603050405020304" pitchFamily="18" charset="0"/>
                <a:cs typeface="Times New Roman" panose="02020603050405020304" pitchFamily="18" charset="0"/>
              </a:rPr>
              <a:t>DHT11 measures temperature and humidity.</a:t>
            </a:r>
            <a:endParaRPr lang="en-US" altLang="en-GB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2300">
                <a:latin typeface="Times New Roman" panose="02020603050405020304" pitchFamily="18" charset="0"/>
                <a:cs typeface="Times New Roman" panose="02020603050405020304" pitchFamily="18" charset="0"/>
              </a:rPr>
              <a:t>MQ2 detects smoke and harmful gases.</a:t>
            </a:r>
            <a:endParaRPr lang="en-US" altLang="en-GB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2300">
                <a:latin typeface="Times New Roman" panose="02020603050405020304" pitchFamily="18" charset="0"/>
                <a:cs typeface="Times New Roman" panose="02020603050405020304" pitchFamily="18" charset="0"/>
              </a:rPr>
              <a:t>ESP8266 reads and processes sensor values.</a:t>
            </a:r>
            <a:endParaRPr lang="en-US" altLang="en-GB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2300">
                <a:latin typeface="Times New Roman" panose="02020603050405020304" pitchFamily="18" charset="0"/>
                <a:cs typeface="Times New Roman" panose="02020603050405020304" pitchFamily="18" charset="0"/>
              </a:rPr>
              <a:t>Data is forwarded to the monitoring module.</a:t>
            </a:r>
            <a:endParaRPr lang="en-US" altLang="en-GB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GB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IN" altLang="en-US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GB" sz="23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230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environmental data collection.</a:t>
            </a:r>
            <a:endParaRPr lang="en-US" altLang="en-GB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2300">
                <a:latin typeface="Times New Roman" panose="02020603050405020304" pitchFamily="18" charset="0"/>
                <a:cs typeface="Times New Roman" panose="02020603050405020304" pitchFamily="18" charset="0"/>
              </a:rPr>
              <a:t>Accurate sensor readings for further analysis.</a:t>
            </a:r>
            <a:endParaRPr lang="en-US" altLang="en-GB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757"/>
          <a:stretch>
            <a:fillRect/>
          </a:stretch>
        </p:blipFill>
        <p:spPr bwMode="auto">
          <a:xfrm>
            <a:off x="122465" y="113741"/>
            <a:ext cx="2359478" cy="6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47"/>
          <a:stretch>
            <a:fillRect/>
          </a:stretch>
        </p:blipFill>
        <p:spPr bwMode="auto">
          <a:xfrm>
            <a:off x="9710057" y="113741"/>
            <a:ext cx="2359478" cy="6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757"/>
          <a:stretch>
            <a:fillRect/>
          </a:stretch>
        </p:blipFill>
        <p:spPr bwMode="auto">
          <a:xfrm>
            <a:off x="122465" y="113741"/>
            <a:ext cx="2359478" cy="6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47"/>
          <a:stretch>
            <a:fillRect/>
          </a:stretch>
        </p:blipFill>
        <p:spPr bwMode="auto">
          <a:xfrm>
            <a:off x="9710057" y="113741"/>
            <a:ext cx="2359478" cy="6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22555" y="805815"/>
            <a:ext cx="1207008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MODULE-2: MONITORING &amp; ALERT MODULE</a:t>
            </a:r>
            <a:endParaRPr lang="en-IN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28295" y="1570355"/>
            <a:ext cx="11384915" cy="4968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endParaRPr lang="en-US" altLang="en-GB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displays environmental data and generates alerts when abnormal conditions are detected.</a:t>
            </a:r>
            <a:endParaRPr lang="en-US" altLang="en-GB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endParaRPr lang="en-US" altLang="en-GB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200">
                <a:latin typeface="Times New Roman" panose="02020603050405020304" pitchFamily="18" charset="0"/>
                <a:cs typeface="Times New Roman" panose="02020603050405020304" pitchFamily="18" charset="0"/>
              </a:rPr>
              <a:t>ESP8266 NodeMCU</a:t>
            </a:r>
            <a:endParaRPr lang="en-US" altLang="en-GB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200">
                <a:latin typeface="Times New Roman" panose="02020603050405020304" pitchFamily="18" charset="0"/>
                <a:cs typeface="Times New Roman" panose="02020603050405020304" pitchFamily="18" charset="0"/>
              </a:rPr>
              <a:t>Wi-Fi Module</a:t>
            </a:r>
            <a:endParaRPr lang="en-US" altLang="en-GB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20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en-GB" sz="2200">
                <a:latin typeface="Times New Roman" panose="02020603050405020304" pitchFamily="18" charset="0"/>
                <a:cs typeface="Times New Roman" panose="02020603050405020304" pitchFamily="18" charset="0"/>
              </a:rPr>
              <a:t>2 I2C LCD Display</a:t>
            </a:r>
            <a:endParaRPr lang="en-US" altLang="en-GB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200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</a:t>
            </a:r>
            <a:r>
              <a:rPr lang="en-I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altLang="en-GB" sz="2200">
                <a:latin typeface="Times New Roman" panose="02020603050405020304" pitchFamily="18" charset="0"/>
                <a:cs typeface="Times New Roman" panose="02020603050405020304" pitchFamily="18" charset="0"/>
              </a:rPr>
              <a:t>Telegram Bot</a:t>
            </a:r>
            <a:endParaRPr lang="en-US" altLang="en-GB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endParaRPr lang="en-US" altLang="en-GB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200">
                <a:latin typeface="Times New Roman" panose="02020603050405020304" pitchFamily="18" charset="0"/>
                <a:cs typeface="Times New Roman" panose="02020603050405020304" pitchFamily="18" charset="0"/>
              </a:rPr>
              <a:t>Display sensor values</a:t>
            </a:r>
            <a:endParaRPr lang="en-US" altLang="en-GB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200">
                <a:latin typeface="Times New Roman" panose="02020603050405020304" pitchFamily="18" charset="0"/>
                <a:cs typeface="Times New Roman" panose="02020603050405020304" pitchFamily="18" charset="0"/>
              </a:rPr>
              <a:t>Enable remote monitoring</a:t>
            </a:r>
            <a:endParaRPr lang="en-US" altLang="en-GB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200">
                <a:latin typeface="Times New Roman" panose="02020603050405020304" pitchFamily="18" charset="0"/>
                <a:cs typeface="Times New Roman" panose="02020603050405020304" pitchFamily="18" charset="0"/>
              </a:rPr>
              <a:t>Upload data through Wi-Fi</a:t>
            </a:r>
            <a:endParaRPr lang="en-US" altLang="en-GB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200">
                <a:latin typeface="Times New Roman" panose="02020603050405020304" pitchFamily="18" charset="0"/>
                <a:cs typeface="Times New Roman" panose="02020603050405020304" pitchFamily="18" charset="0"/>
              </a:rPr>
              <a:t>Generate alert notifications</a:t>
            </a:r>
            <a:endParaRPr lang="en-US" altLang="en-GB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200">
                <a:latin typeface="Times New Roman" panose="02020603050405020304" pitchFamily="18" charset="0"/>
                <a:cs typeface="Times New Roman" panose="02020603050405020304" pitchFamily="18" charset="0"/>
              </a:rPr>
              <a:t>Store and visualize environmental data</a:t>
            </a:r>
            <a:endParaRPr lang="en-US" altLang="en-GB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IN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altLang="en-GB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525" y="1499235"/>
            <a:ext cx="11805920" cy="5135880"/>
          </a:xfrm>
        </p:spPr>
        <p:txBody>
          <a:bodyPr>
            <a:noAutofit/>
          </a:bodyPr>
          <a:p>
            <a:pPr marL="0" indent="0" algn="just">
              <a:buNone/>
            </a:pPr>
            <a:r>
              <a:rPr lang="en-US" altLang="en-GB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</a:t>
            </a:r>
            <a:r>
              <a:rPr lang="en-IN" alt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GB" sz="2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2100">
                <a:latin typeface="Times New Roman" panose="02020603050405020304" pitchFamily="18" charset="0"/>
                <a:cs typeface="Times New Roman" panose="02020603050405020304" pitchFamily="18" charset="0"/>
              </a:rPr>
              <a:t>ESP8266 receives sensor data.</a:t>
            </a:r>
            <a:endParaRPr lang="en-US" altLang="en-GB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2100">
                <a:latin typeface="Times New Roman" panose="02020603050405020304" pitchFamily="18" charset="0"/>
                <a:cs typeface="Times New Roman" panose="02020603050405020304" pitchFamily="18" charset="0"/>
              </a:rPr>
              <a:t>Values are displayed on LCD and web dashboard.</a:t>
            </a:r>
            <a:endParaRPr lang="en-US" altLang="en-GB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2100">
                <a:latin typeface="Times New Roman" panose="02020603050405020304" pitchFamily="18" charset="0"/>
                <a:cs typeface="Times New Roman" panose="02020603050405020304" pitchFamily="18" charset="0"/>
              </a:rPr>
              <a:t>Sensor readings are compared with threshold limits.</a:t>
            </a:r>
            <a:endParaRPr lang="en-US" altLang="en-GB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2100">
                <a:latin typeface="Times New Roman" panose="02020603050405020304" pitchFamily="18" charset="0"/>
                <a:cs typeface="Times New Roman" panose="02020603050405020304" pitchFamily="18" charset="0"/>
              </a:rPr>
              <a:t>Telegram alerts are sent when abnormal conditions occur.</a:t>
            </a:r>
            <a:endParaRPr lang="en-US" altLang="en-GB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GB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Alert Conditions</a:t>
            </a:r>
            <a:r>
              <a:rPr lang="en-IN" alt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GB" sz="2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2100">
                <a:latin typeface="Times New Roman" panose="02020603050405020304" pitchFamily="18" charset="0"/>
                <a:cs typeface="Times New Roman" panose="02020603050405020304" pitchFamily="18" charset="0"/>
              </a:rPr>
              <a:t>Soil Moisture &lt; 30% </a:t>
            </a: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2100">
                <a:latin typeface="Times New Roman" panose="02020603050405020304" pitchFamily="18" charset="0"/>
                <a:cs typeface="Times New Roman" panose="02020603050405020304" pitchFamily="18" charset="0"/>
              </a:rPr>
              <a:t> Soil Dry Alert</a:t>
            </a:r>
            <a:endParaRPr lang="en-US" altLang="en-GB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210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&gt; 30</a:t>
            </a: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°</a:t>
            </a:r>
            <a:r>
              <a:rPr lang="en-US" altLang="en-GB" sz="210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2100">
                <a:latin typeface="Times New Roman" panose="02020603050405020304" pitchFamily="18" charset="0"/>
                <a:cs typeface="Times New Roman" panose="02020603050405020304" pitchFamily="18" charset="0"/>
              </a:rPr>
              <a:t> High Temperature Alert</a:t>
            </a:r>
            <a:endParaRPr lang="en-US" altLang="en-GB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2100">
                <a:latin typeface="Times New Roman" panose="02020603050405020304" pitchFamily="18" charset="0"/>
                <a:cs typeface="Times New Roman" panose="02020603050405020304" pitchFamily="18" charset="0"/>
              </a:rPr>
              <a:t>Humidity &lt; 40% </a:t>
            </a: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2100">
                <a:latin typeface="Times New Roman" panose="02020603050405020304" pitchFamily="18" charset="0"/>
                <a:cs typeface="Times New Roman" panose="02020603050405020304" pitchFamily="18" charset="0"/>
              </a:rPr>
              <a:t> Low Humidity Alert</a:t>
            </a:r>
            <a:endParaRPr lang="en-US" altLang="en-GB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2100">
                <a:latin typeface="Times New Roman" panose="02020603050405020304" pitchFamily="18" charset="0"/>
                <a:cs typeface="Times New Roman" panose="02020603050405020304" pitchFamily="18" charset="0"/>
              </a:rPr>
              <a:t>Rain Detected </a:t>
            </a: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2100">
                <a:latin typeface="Times New Roman" panose="02020603050405020304" pitchFamily="18" charset="0"/>
                <a:cs typeface="Times New Roman" panose="02020603050405020304" pitchFamily="18" charset="0"/>
              </a:rPr>
              <a:t> Rain Alert</a:t>
            </a:r>
            <a:endParaRPr lang="en-US" altLang="en-GB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2100">
                <a:latin typeface="Times New Roman" panose="02020603050405020304" pitchFamily="18" charset="0"/>
                <a:cs typeface="Times New Roman" panose="02020603050405020304" pitchFamily="18" charset="0"/>
              </a:rPr>
              <a:t>Gas Detected </a:t>
            </a: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2100">
                <a:latin typeface="Times New Roman" panose="02020603050405020304" pitchFamily="18" charset="0"/>
                <a:cs typeface="Times New Roman" panose="02020603050405020304" pitchFamily="18" charset="0"/>
              </a:rPr>
              <a:t> Gas Leakage Alert</a:t>
            </a:r>
            <a:endParaRPr lang="en-US" altLang="en-GB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GB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IN" alt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GB" sz="2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210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</a:t>
            </a:r>
            <a:r>
              <a:rPr lang="en-IN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altLang="en-GB" sz="2100">
                <a:latin typeface="Times New Roman" panose="02020603050405020304" pitchFamily="18" charset="0"/>
                <a:cs typeface="Times New Roman" panose="02020603050405020304" pitchFamily="18" charset="0"/>
              </a:rPr>
              <a:t>Remote data access</a:t>
            </a:r>
            <a:endParaRPr lang="en-US" altLang="en-GB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GB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757"/>
          <a:stretch>
            <a:fillRect/>
          </a:stretch>
        </p:blipFill>
        <p:spPr bwMode="auto">
          <a:xfrm>
            <a:off x="122465" y="113741"/>
            <a:ext cx="2359478" cy="6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47"/>
          <a:stretch>
            <a:fillRect/>
          </a:stretch>
        </p:blipFill>
        <p:spPr bwMode="auto">
          <a:xfrm>
            <a:off x="9710057" y="113741"/>
            <a:ext cx="2359478" cy="6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IN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altLang="en-GB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WhatsApp Image 2026-06-26 at 2.03.44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11885" y="2179955"/>
            <a:ext cx="6804660" cy="3642360"/>
          </a:xfrm>
          <a:prstGeom prst="rect">
            <a:avLst/>
          </a:prstGeom>
        </p:spPr>
      </p:pic>
      <p:pic>
        <p:nvPicPr>
          <p:cNvPr id="5" name="Picture 4" descr="WhatsApp Image 2026-06-26 at 1.18.25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940" y="2180590"/>
            <a:ext cx="3500120" cy="36988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585" y="567690"/>
            <a:ext cx="10515600" cy="1325563"/>
          </a:xfrm>
        </p:spPr>
        <p:txBody>
          <a:bodyPr/>
          <a:p>
            <a:pPr algn="ctr"/>
            <a:r>
              <a:rPr lang="en-IN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altLang="en-GB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3585" y="1994535"/>
            <a:ext cx="10515600" cy="3235325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altLang="en-GB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Smart Agriculture</a:t>
            </a: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Monitor soil moisture and weather conditions.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GB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Greenhouse Monitoring</a:t>
            </a: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Maintain optimal conditions for plant growth.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GB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Weather Monitoring Stations </a:t>
            </a: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– Track environmental parameters in real time.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GB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Industrial Safety</a:t>
            </a: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Detect gas leaks and hazardous conditions.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GB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Smart Cities</a:t>
            </a: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Support environmental and pollution monitoring.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GB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Residential Safety</a:t>
            </a: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Monitor home surroundings and receive alerts.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GB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Research &amp; Environmental Studies</a:t>
            </a: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Collect and analyze environmental data.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757"/>
          <a:stretch>
            <a:fillRect/>
          </a:stretch>
        </p:blipFill>
        <p:spPr bwMode="auto">
          <a:xfrm>
            <a:off x="122465" y="113741"/>
            <a:ext cx="2359478" cy="6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47"/>
          <a:stretch>
            <a:fillRect/>
          </a:stretch>
        </p:blipFill>
        <p:spPr bwMode="auto">
          <a:xfrm>
            <a:off x="9710057" y="113741"/>
            <a:ext cx="2359478" cy="6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IN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altLang="en-GB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algn="just">
              <a:lnSpc>
                <a:spcPct val="150000"/>
              </a:lnSpc>
            </a:pP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Artificial Intelligence (AI) for environmental prediction.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 mobile application for easier monitoring.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Addition of advanced sensors for air and water quality monitoring.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solar-powered sensor nodes for energy efficiency.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smart city infrastructure.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Automated control systems for responding to critical environmental conditions.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757"/>
          <a:stretch>
            <a:fillRect/>
          </a:stretch>
        </p:blipFill>
        <p:spPr bwMode="auto">
          <a:xfrm>
            <a:off x="122465" y="113741"/>
            <a:ext cx="2359478" cy="6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47"/>
          <a:stretch>
            <a:fillRect/>
          </a:stretch>
        </p:blipFill>
        <p:spPr bwMode="auto">
          <a:xfrm>
            <a:off x="9710057" y="113741"/>
            <a:ext cx="2359478" cy="6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IN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altLang="en-GB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290" y="1551940"/>
            <a:ext cx="10515600" cy="3754120"/>
          </a:xfrm>
        </p:spPr>
        <p:txBody>
          <a:bodyPr>
            <a:noAutofit/>
          </a:bodyPr>
          <a:p>
            <a:pPr algn="just">
              <a:lnSpc>
                <a:spcPct val="150000"/>
              </a:lnSpc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a smart and efficient solution for real-time environmental monitoring.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It continuously monitors temperature, humidity, soil moisture, rainfall, and gas levels using IoT sensors.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Wi-Fi connectivity enables remote monitoring through a web dashboard, while Telegram alerts provide instant notifications.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in early detection of abnormal environmental conditions and improves safety.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Its low-cost and scalable design makes it suitable for agriculture, smart cities, industrial safety, and environmental management.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757"/>
          <a:stretch>
            <a:fillRect/>
          </a:stretch>
        </p:blipFill>
        <p:spPr bwMode="auto">
          <a:xfrm>
            <a:off x="122465" y="113741"/>
            <a:ext cx="2359478" cy="6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47"/>
          <a:stretch>
            <a:fillRect/>
          </a:stretch>
        </p:blipFill>
        <p:spPr bwMode="auto">
          <a:xfrm>
            <a:off x="9710057" y="113741"/>
            <a:ext cx="2359478" cy="6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155" y="805815"/>
            <a:ext cx="9965690" cy="562610"/>
          </a:xfrm>
        </p:spPr>
        <p:txBody>
          <a:bodyPr>
            <a:normAutofit fontScale="90000"/>
          </a:bodyPr>
          <a:p>
            <a:pPr algn="ctr"/>
            <a:r>
              <a:rPr lang="en-IN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altLang="en-GB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435" y="1677670"/>
            <a:ext cx="11170285" cy="4351655"/>
          </a:xfrm>
        </p:spPr>
        <p:txBody>
          <a:bodyPr>
            <a:noAutofit/>
          </a:bodyPr>
          <a:p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Rahman et al. (2024) – Enhancing IoT-Based Environmental Monitoring and Power Forecasting Using AI Models, Applied Sciences.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Banciu et al. (2024) – Monitoring and Predicting Air Quality with IoT Devices, Processes Journal.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 et al. (2024) – Web-Based IoT Environmental and Lighting Monitoring System Using Node-RED and MQTT, Internet of Things Journal.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Kanwal et al. (2025) – Energy-Efficient IoT-Based Wireless Sensor Network for Environmental Monitoring, Computer Systems Science and Engineering.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Madan et al. (2025) – Smart Waste Management and Air Pollution Forecasting Using IoT and Neural Networks, Waste Management &amp; Research.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757"/>
          <a:stretch>
            <a:fillRect/>
          </a:stretch>
        </p:blipFill>
        <p:spPr bwMode="auto">
          <a:xfrm>
            <a:off x="122465" y="113741"/>
            <a:ext cx="2359478" cy="6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47"/>
          <a:stretch>
            <a:fillRect/>
          </a:stretch>
        </p:blipFill>
        <p:spPr bwMode="auto">
          <a:xfrm>
            <a:off x="9710057" y="113741"/>
            <a:ext cx="2359478" cy="6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Thank-You-Sli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635" y="667385"/>
            <a:ext cx="11400790" cy="552323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53*332"/>
  <p:tag name="TABLE_ENDDRAG_RECT" val="53*120*853*332"/>
</p:tagLst>
</file>

<file path=ppt/tags/tag2.xml><?xml version="1.0" encoding="utf-8"?>
<p:tagLst xmlns:p="http://schemas.openxmlformats.org/presentationml/2006/main">
  <p:tag name="resource_record_key" val="{&quot;70&quot;:[3320345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6237</Words>
  <Application>WPS Presentation</Application>
  <PresentationFormat>Widescreen</PresentationFormat>
  <Paragraphs>203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SimSun</vt:lpstr>
      <vt:lpstr>Wingdings</vt:lpstr>
      <vt:lpstr>Times New Roman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LITERATURE SURVEY</vt:lpstr>
      <vt:lpstr>SYSTEM ARCHITECTURE</vt:lpstr>
      <vt:lpstr>PowerPoint 演示文稿</vt:lpstr>
      <vt:lpstr> IMPLEMENTATION</vt:lpstr>
      <vt:lpstr>PowerPoint 演示文稿</vt:lpstr>
      <vt:lpstr>IMPLEMENTATION</vt:lpstr>
      <vt:lpstr>OUTPUT</vt:lpstr>
      <vt:lpstr>APPLICATIONS</vt:lpstr>
      <vt:lpstr>FUTURE SCOPE</vt:lpstr>
      <vt:lpstr>CONCLUSION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Abinaya Vinoth</dc:creator>
  <cp:lastModifiedBy>Niharika Harika</cp:lastModifiedBy>
  <cp:revision>15</cp:revision>
  <dcterms:created xsi:type="dcterms:W3CDTF">2025-10-30T12:51:00Z</dcterms:created>
  <dcterms:modified xsi:type="dcterms:W3CDTF">2026-06-26T08:37:18Z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2BB71A7F117E4A7F8E1FE735E7FABCB3_13</vt:lpwstr>
  </property>
  <property fmtid="{D5CDD505-2E9C-101B-9397-08002B2CF9AE}" pid="3" name="KSOProductBuildVer">
    <vt:lpwstr>2057-12.2.0.23203</vt:lpwstr>
  </property>
</Properties>
</file>